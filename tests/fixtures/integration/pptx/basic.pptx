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1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2"/>
  </p:sldMasterIdLst>
  <p:notesMasterIdLst>
    <p:notesMasterId r:id="rId3"/>
  </p:notesMasterIdLst>
  <p:sldIdLst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custDataLst>
    <p:tags r:id="rId1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p="http://schemas.openxmlformats.org/presentationml/2006/main" xmlns:p188="http://schemas.microsoft.com/office/powerpoint/2018/8/main">
  <p188:author id="{D6AF5E41-902B-1056-47EF-CEA8025B62D5}" name="Kruthoff, Nils" initials="NK" userId="S::nils.kruthoff@iu-study.org::9b9b4e9a-bbb3-4541-943b-c53e532aa73b" providerId="AD"/>
</p188: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416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microsoft.com/office/2018/10/relationships/authors" Target="authors.xml" /><Relationship Id="rId10" Type="http://schemas.openxmlformats.org/officeDocument/2006/relationships/slide" Target="slides/slide7.xml" /><Relationship Id="rId11" Type="http://schemas.openxmlformats.org/officeDocument/2006/relationships/tags" Target="tags/tag1.xml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1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comments/moderncomment1.xml><?xml version="1.0" encoding="utf-8"?>
<p188:cmLst xmlns:pc="http://schemas.microsoft.com/office/powerpoint/2013/main/command" xmlns:ac="http://schemas.microsoft.com/office/drawing/2013/main/command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="http://schemas.openxmlformats.org/presentationml/2006/main" xmlns:p188="http://schemas.microsoft.com/office/powerpoint/2018/8/main">
  <p188:cm id="{4323C402-AE77-4765-A282-91431275213D}" authorId="{D6AF5E41-902B-1056-47EF-CEA8025B62D5}" created="2026-07-12T22:26:25.1630000">
    <pc:sldMkLst>
      <pc:docMk/>
      <pc:sldMk cId="4010986668" sldId="262"/>
    </pc:sldMkLst>
    <p188:pos x="0" y="0"/>
    <p188:txBody>
      <a:bodyPr/>
      <a:lstStyle/>
      <a:p>
        <a:r>
          <a:rPr/>
          <a:t>Comment</a:t>
        </a:r>
      </a:p>
    </p188:txBody>
  </p188:cm>
</p188:cmLst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BA8A1-DF13-4BD8-B76C-CD685F1F205F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AA141C-8712-49A8-8B9E-A611B39306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397274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Speaker notes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A141C-8712-49A8-8B9E-A611B393066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val="3561287286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B6194-D904-F5FF-7C58-B99004E93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CDCAF36-68BD-15E8-F1DA-61E31019B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28EDBB-2C85-E893-2B5B-3886C2EC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CB522A-8B77-4A03-965B-0326FFAC4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2401A6-9F64-7805-8449-D6699922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2027243334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1B6D4-EAA5-08ED-E2FF-97A77C694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C25AE2-1EB6-AAC9-79BA-F73BB2B6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13C5F-D8A8-B185-9F52-D583A5D8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518CAA-2F7B-D994-5430-714C1023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6600FE-8449-ED4F-DAA7-B52BF761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3663937932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04747D-3CDB-3040-9AA1-135F5E5C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8C3186-0A1C-7610-4D11-262D5A874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BB1C40-6E1A-D32A-95FA-14AF1385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F7FB40-DF59-8885-27B6-14B070229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5EBA7E-CC92-D615-FA1A-3818F313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3386285398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762A2D-7943-A706-F8E7-6699EEC6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9A09FD-379D-E695-B4FD-A25CD386E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31BCB6-E21D-1F7B-C9CB-3B6F9B984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3FA8EFC-62EE-3934-A727-AD021E3F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8F0473-06C8-8028-CEC3-984A21DA4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140FAA-0A14-504E-2FCA-D9344F649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4239504866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776951-E3FA-898A-0852-418076916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237A5D-19DE-31A6-2A8E-AC885E8C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9361811-FF5B-B9F1-33E2-C2408BE28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F9A904-0EC7-71E1-C3AD-09A7BCA4C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DDB2CBD-8B68-467D-E668-3125E3F32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F68881-BE54-B320-FF1C-AB485E9C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3303084-D27D-6F62-0DC6-0242DBDA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920ED76-D23D-BA4F-E6A7-F7CE2546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1700525978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C657E-7574-9BF5-47C4-8C708D58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E7A3442-0726-0A2A-08C5-8B92B9AE9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6E6BE1-949B-6742-6E07-4DB85715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6C2E83-9C06-7124-7722-9092E20B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1669947715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BA7C1D6-889D-46E2-686D-73BACD37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530734-F04E-38B6-CC44-0D37A9AEB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C776D1-0B3A-1C64-526A-E4E94DED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1559360171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B3164-4A65-05A1-AC20-5A77EB2AC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C6CC17-2738-C361-70C7-22800DAF5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163434-4ABD-6A36-3471-65DCA0D51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3F7727-A799-07D5-8D4C-2F0984C9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B64B89-0682-E122-35A3-BB0E4475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E6F002-5211-42E1-5E0F-52441C4D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425692404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0C9CFF-B1E7-AB46-0705-28266A26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299A968-782E-0BF3-8056-F467CD3F8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CB4774-B0A8-AE2D-4974-89F8C4544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A4944C-9DE7-D675-F239-BE2E33B2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3FFB05-1FAD-1910-EE7A-9E4246D5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357F33-0400-5E02-D8F1-EFC70CF0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348169875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5E05D5-6EB4-44BA-533E-C5F08848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A3E4BF-AAD7-B791-40C4-D2EBDD93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8131D0-6D44-C67A-BF72-9CFCA36A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0CD3FE-A396-7A8A-0AFE-BFE57D2A0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82E53-8C9F-4133-DB19-33AA5F37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2671506248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E49C7B9-C8FE-7DC8-BBC8-F1CEC9EAF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F0792F-E2BF-1BD5-F2A1-23DBD7997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2A8727-CB4B-6201-4E98-6DB0B4D9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AD69B7-CD28-20E3-094E-355C9974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BDA467-A4D3-0483-2F67-8D304C0F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341922465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A1A212A-625C-7A31-DC52-F3A0398C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97BC70-5F15-4E25-274C-A90B4BF08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D6BD38-64AA-D12B-EAE2-A902B50B81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2E68A-3362-4143-9501-ACA13EC9792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742A92-8832-DB12-2E7F-AF09002F0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2DB6A6-B18C-6D14-48BA-0996757B8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val="44820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nilskruthoff/pptx-parser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nilskruthoff/pptx-parser" TargetMode="Externa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Relationship Id="rId3" Type="http://schemas.microsoft.com/office/2018/10/relationships/comments" Target="../comments/moderncomment1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image" Target="../media/image1.jpe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D5914-FFC7-9FFE-7B20-60682BA0A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PPTX Parser Fixtures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5F79A3-8E21-8CB1-C94F-FF785C183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/>
              <a:t>Plain paragraph</a:t>
            </a:r>
            <a:endParaRPr lang="de-DE"/>
          </a:p>
          <a:p>
            <a:pPr marL="0" indent="0">
              <a:buNone/>
            </a:pPr>
            <a:r>
              <a:rPr lang="de-DE" b="1" err="1"/>
              <a:t>Bold text</a:t>
            </a:r>
            <a:endParaRPr lang="de-DE"/>
          </a:p>
          <a:p>
            <a:pPr marL="0" indent="0">
              <a:buNone/>
            </a:pPr>
            <a:r>
              <a:rPr lang="de-DE" i="1"/>
              <a:t>Italic text</a:t>
            </a:r>
            <a:endParaRPr lang="de-DE"/>
          </a:p>
          <a:p>
            <a:pPr marL="0" indent="0">
              <a:buNone/>
            </a:pPr>
            <a:r>
              <a:rPr lang="de-DE" u="sng" err="1"/>
              <a:t>Underlined text</a:t>
            </a:r>
            <a:endParaRPr lang="de-DE"/>
          </a:p>
          <a:p>
            <a:pPr marL="0" indent="0">
              <a:buNone/>
            </a:pPr>
            <a:r>
              <a:rPr lang="de-DE" b="1" i="1" err="1"/>
              <a:t>Bold and italic text</a:t>
            </a:r>
            <a:endParaRPr lang="de-DE" b="1" i="1"/>
          </a:p>
        </p:txBody>
      </p:sp>
    </p:spTree>
    <p:extLst>
      <p:ext uri="{BB962C8B-B14F-4D97-AF65-F5344CB8AC3E}">
        <p14:creationId val="2393947391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5B50FB-FE33-3486-4FB7-92938A59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3F4024-721C-AF0A-4BC8-8731694C8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First bullet</a:t>
            </a:r>
            <a:endParaRPr lang="de-DE"/>
          </a:p>
          <a:p>
            <a:r>
              <a:rPr lang="de-DE"/>
              <a:t>Second bullet</a:t>
            </a:r>
            <a:endParaRPr lang="de-DE"/>
          </a:p>
          <a:p>
            <a:pPr lvl="1"/>
            <a:r>
              <a:rPr lang="de-DE" err="1"/>
              <a:t>Nested bullet</a:t>
            </a:r>
            <a:endParaRPr lang="de-DE"/>
          </a:p>
          <a:p>
            <a:r>
              <a:rPr lang="de-DE">
                <a:hlinkClick r:id="rId2"/>
              </a:rPr>
              <a:t>Link bullet</a:t>
            </a:r>
            <a:endParaRPr lang="de-DE"/>
          </a:p>
          <a:p>
            <a:pPr marL="0" indent="0">
              <a:buNone/>
            </a:pPr>
            <a:endParaRPr lang="de-DE"/>
          </a:p>
          <a:p>
            <a:pPr marL="514350" indent="-514350">
              <a:buFont typeface="+mj-lt"/>
              <a:buAutoNum type="arabicPeriod"/>
            </a:pPr>
            <a:r>
              <a:rPr lang="de-DE"/>
              <a:t>First number</a:t>
            </a:r>
            <a:endParaRPr lang="de-DE"/>
          </a:p>
          <a:p>
            <a:pPr marL="514350" indent="-514350">
              <a:buFont typeface="+mj-lt"/>
              <a:buAutoNum type="arabicPeriod"/>
            </a:pPr>
            <a:r>
              <a:rPr lang="de-DE"/>
              <a:t>Second number</a:t>
            </a:r>
            <a:endParaRPr lang="de-DE"/>
          </a:p>
          <a:p>
            <a:pPr marL="971550" lvl="1" indent="-514350">
              <a:buFont typeface="+mj-lt"/>
              <a:buAutoNum type="arabicPeriod"/>
            </a:pPr>
            <a:r>
              <a:rPr lang="de-DE" err="1"/>
              <a:t>Nested number</a:t>
            </a:r>
            <a:endParaRPr lang="de-DE"/>
          </a:p>
        </p:txBody>
      </p:sp>
    </p:spTree>
    <p:extLst>
      <p:ext uri="{BB962C8B-B14F-4D97-AF65-F5344CB8AC3E}">
        <p14:creationId val="3531872515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1C671-E6B3-7F48-7B4A-39EC4158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Tables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CE3BC81B-B9EF-9119-62F5-9AD5190B46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2661539675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5335619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368519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57435448"/>
                    </a:ext>
                  </a:extLst>
                </a:gridCol>
              </a:tblGrid>
              <a:tr h="370840">
                <a:tc>
                  <a:txBody>
                    <a:bodyPr vert="horz" wrap="square"/>
                    <a:lstStyle/>
                    <a:p>
                      <a:r>
                        <a:rPr lang="de-DE"/>
                        <a:t>Heading A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de-DE"/>
                        <a:t>Heading B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de-DE"/>
                        <a:t>Heading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5788"/>
                  </a:ext>
                </a:extLst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de-DE"/>
                        <a:t>A1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de-DE"/>
                        <a:t>B1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de-DE"/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5803"/>
                  </a:ext>
                </a:extLst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de-DE"/>
                        <a:t>A2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de-DE"/>
                        <a:t>B2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de-DE">
                          <a:hlinkClick r:id="rId2"/>
                        </a:rPr>
                        <a:t>C2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939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3336043516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C4E6B8-52C0-5BAC-43F3-B5EA8D17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Grouped elements</a:t>
            </a:r>
            <a:endParaRPr lang="de-DE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6519755-F21A-273A-1870-8011D71D9DBE}"/>
              </a:ext>
            </a:extLst>
          </p:cNvPr>
          <p:cNvGrpSpPr/>
          <p:nvPr/>
        </p:nvGrpSpPr>
        <p:grpSpPr>
          <a:xfrm>
            <a:off x="676656" y="1690688"/>
            <a:ext cx="5175504" cy="1467564"/>
            <a:chOff x="768096" y="1690688"/>
            <a:chExt cx="5175504" cy="1467564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42390A8F-B63C-F5C3-615C-7F36D65D2DC4}"/>
                </a:ext>
              </a:extLst>
            </p:cNvPr>
            <p:cNvSpPr txBox="1"/>
            <p:nvPr/>
          </p:nvSpPr>
          <p:spPr>
            <a:xfrm>
              <a:off x="838200" y="1690688"/>
              <a:ext cx="4181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b="1" err="1"/>
                <a:t>Grouped Heading</a:t>
              </a:r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6F0A8DCF-6F51-4419-4066-1C72200D887C}"/>
                </a:ext>
              </a:extLst>
            </p:cNvPr>
            <p:cNvSpPr txBox="1"/>
            <p:nvPr/>
          </p:nvSpPr>
          <p:spPr>
            <a:xfrm>
              <a:off x="768096" y="2788920"/>
              <a:ext cx="5175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err="1"/>
                <a:t>Grouped Body</a:t>
              </a:r>
            </a:p>
          </p:txBody>
        </p:sp>
      </p:grpSp>
    </p:spTree>
    <p:extLst>
      <p:ext uri="{BB962C8B-B14F-4D97-AF65-F5344CB8AC3E}">
        <p14:creationId val="4105507018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767C3-D2B9-E90A-00D7-65A04593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Sorting and empty content</a:t>
            </a:r>
            <a:br>
              <a:rPr lang="de-DE" err="1"/>
            </a:br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4480FEF-5AB5-0723-ADCA-6713E9FB8CCA}"/>
              </a:ext>
            </a:extLst>
          </p:cNvPr>
          <p:cNvSpPr txBox="1"/>
          <p:nvPr/>
        </p:nvSpPr>
        <p:spPr>
          <a:xfrm>
            <a:off x="561474" y="1459832"/>
            <a:ext cx="8598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First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368337-76FC-2E44-A7F8-FF359FE6EB66}"/>
              </a:ext>
            </a:extLst>
          </p:cNvPr>
          <p:cNvSpPr txBox="1"/>
          <p:nvPr/>
        </p:nvSpPr>
        <p:spPr>
          <a:xfrm>
            <a:off x="561474" y="2310063"/>
            <a:ext cx="8085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Second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DD49BE9-B0CF-D29B-C5F9-D021577C3E83}"/>
              </a:ext>
            </a:extLst>
          </p:cNvPr>
          <p:cNvSpPr txBox="1"/>
          <p:nvPr/>
        </p:nvSpPr>
        <p:spPr>
          <a:xfrm>
            <a:off x="561474" y="5342021"/>
            <a:ext cx="8438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Third</a:t>
            </a: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C1E3B2E-AA8F-DCAD-F6A2-E1BDD39FD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082573945"/>
              </p:ext>
            </p:extLst>
          </p:nvPr>
        </p:nvGraphicFramePr>
        <p:xfrm>
          <a:off x="561474" y="3436926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3079350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433590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06684578"/>
                    </a:ext>
                  </a:extLst>
                </a:gridCol>
              </a:tblGrid>
              <a:tr h="370840">
                <a:tc>
                  <a:txBody>
                    <a:bodyPr vert="horz" wrap="square"/>
                    <a:lstStyle/>
                    <a:p>
                      <a:r>
                        <a:rPr lang="de-DE"/>
                        <a:t>Left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de-DE"/>
                        <a:t>Right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988067"/>
                  </a:ext>
                </a:extLst>
              </a:tr>
              <a:tr h="370840">
                <a:tc>
                  <a:txBody>
                    <a:bodyPr vert="horz" wrap="square"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de-DE"/>
                        <a:t>Middle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79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111276283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  <p:extLst>
      <p:ext uri="{BB962C8B-B14F-4D97-AF65-F5344CB8AC3E}">
        <p14:creationId val="4010986668"/>
      </p:ext>
    </p:extLst>
  </p:cSld>
  <p:clrMapOvr>
    <a:masterClrMapping/>
  </p:clrMapOvr>
  <p:transition/>
  <p:timing/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340BC9-99C6-15F7-EF80-7D994E78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Image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4B856DB-9B3D-21A7-B81C-929CD8B39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8" r="-3" b="5857"/>
          <a:stretch>
            <a:fillRect/>
          </a:stretch>
        </p:blipFill>
        <p:spPr>
          <a:xfrm>
            <a:off x="6229215" y="10"/>
            <a:ext cx="5962785" cy="6857990"/>
          </a:xfrm>
          <a:custGeom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val="379263881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6.8.0.107"/>
  <p:tag name="AS_RELEASE_DATE" val="2024.12.14"/>
  <p:tag name="AS_TITLE" val="Aspose.Slides for .NET Standard 2.0"/>
  <p:tag name="AS_VERSION" val="24.12"/>
</p:tagLst>
</file>

<file path=ppt/theme/theme1.xml><?xml version="1.0" encoding="utf-8"?>
<a:theme xmlns:r="http://schemas.openxmlformats.org/officeDocument/2006/relationships"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Breitbild</PresentationFormat>
  <Paragraphs>23</Paragraphs>
  <Slides>7</Slides>
  <Notes>1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12">
      <vt:lpstr>Arial</vt:lpstr>
      <vt:lpstr>Aptos Display</vt:lpstr>
      <vt:lpstr>Aptos</vt:lpstr>
      <vt:lpstr>Calibri</vt:lpstr>
      <vt:lpstr>Office</vt:lpstr>
      <vt:lpstr>PPTX Parser Fixtures</vt:lpstr>
      <vt:lpstr>Lists</vt:lpstr>
      <vt:lpstr>Tables</vt:lpstr>
      <vt:lpstr>Grouped elements</vt:lpstr>
      <vt:lpstr>Sorting and empty content</vt:lpstr>
      <vt:lpstr>PowerPoint Presentation</vt:lpstr>
      <vt:lpstr>Image</vt:lpstr>
    </vt:vector>
  </TitlesOfParts>
  <LinksUpToDate>0</LinksUpToDate>
  <SharedDoc>0</SharedDoc>
  <HyperlinksChanged>0</HyperlinksChanged>
  <Application>Aspose.Slides for .NET</Application>
  <AppVersion>24.1200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Doe, John</dc:creator>
  <cp:lastModifiedBy>Doe, John</cp:lastModifiedBy>
  <cp:revision>5</cp:revision>
  <dcterms:created xsi:type="dcterms:W3CDTF">2026-07-12T19:51:38Z</dcterms:created>
  <dcterms:modified xsi:type="dcterms:W3CDTF">2026-07-14T12:49:38Z</dcterms:modified>
</cp:coreProperties>
</file>